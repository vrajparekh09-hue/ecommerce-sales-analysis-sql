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A22"/>
                </a:solidFill>
                <a:latin typeface="Georgia"/>
              </a:defRPr>
            </a:pPr>
            <a:r>
              <a:rPr lang="en-IN" sz="1400" b="0" i="0" u="none" strike="noStrike">
                <a:solidFill>
                  <a:srgbClr val="131A22"/>
                </a:solidFill>
                <a:latin typeface="Georgia"/>
              </a:rPr>
              <a:t>Avg payment value (ascending)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Rounded Avg Payment (BRL)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not_defined</c:v>
                </c:pt>
                <c:pt idx="1">
                  <c:v>voucher</c:v>
                </c:pt>
                <c:pt idx="2">
                  <c:v>debit_card</c:v>
                </c:pt>
                <c:pt idx="3">
                  <c:v>boleto</c:v>
                </c:pt>
                <c:pt idx="4">
                  <c:v>credit_card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66</c:v>
                </c:pt>
                <c:pt idx="2">
                  <c:v>143</c:v>
                </c:pt>
                <c:pt idx="3">
                  <c:v>145</c:v>
                </c:pt>
                <c:pt idx="4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FB-4982-BB50-25DB9BD2F0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F0-4C83-A20F-31A2066FAD05}"/>
              </c:ext>
            </c:extLst>
          </c:dPt>
          <c:dPt>
            <c:idx val="1"/>
            <c:bubble3D val="0"/>
            <c:spPr>
              <a:solidFill>
                <a:srgbClr val="232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F0-4C83-A20F-31A2066FAD05}"/>
              </c:ext>
            </c:extLst>
          </c:dPt>
          <c:dPt>
            <c:idx val="2"/>
            <c:bubble3D val="0"/>
            <c:spPr>
              <a:solidFill>
                <a:srgbClr val="F4B8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F0-4C83-A20F-31A2066FAD05}"/>
              </c:ext>
            </c:extLst>
          </c:dPt>
          <c:dPt>
            <c:idx val="3"/>
            <c:bubble3D val="0"/>
            <c:spPr>
              <a:solidFill>
                <a:srgbClr val="8C9A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F0-4C83-A20F-31A2066FAD05}"/>
              </c:ext>
            </c:extLst>
          </c:dPt>
          <c:dPt>
            <c:idx val="4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9F0-4C83-A20F-31A2066FAD05}"/>
              </c:ext>
            </c:extLst>
          </c:dPt>
          <c:cat>
            <c:strRef>
              <c:f>Sheet1!$A$2:$A$6</c:f>
              <c:strCache>
                <c:ptCount val="5"/>
                <c:pt idx="0">
                  <c:v>credit_card 73.9%</c:v>
                </c:pt>
                <c:pt idx="1">
                  <c:v>boleto 19.0%</c:v>
                </c:pt>
                <c:pt idx="2">
                  <c:v>voucher 5.6%</c:v>
                </c:pt>
                <c:pt idx="3">
                  <c:v>debit_card 1.5%</c:v>
                </c:pt>
                <c:pt idx="4">
                  <c:v>not_defined 0.0%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73.900000000000006</c:v>
                </c:pt>
                <c:pt idx="1">
                  <c:v>19</c:v>
                </c:pt>
                <c:pt idx="2">
                  <c:v>5.6</c:v>
                </c:pt>
                <c:pt idx="3">
                  <c:v>1.5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F0-4C83-A20F-31A2066FAD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Difference (BRL)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utilidades_domesticas</c:v>
                </c:pt>
                <c:pt idx="1">
                  <c:v>pcs</c:v>
                </c:pt>
                <c:pt idx="2">
                  <c:v>artes</c:v>
                </c:pt>
                <c:pt idx="3">
                  <c:v>eletroportateis</c:v>
                </c:pt>
                <c:pt idx="4">
                  <c:v>instrumentos_musicais</c:v>
                </c:pt>
                <c:pt idx="5">
                  <c:v>consoles_games</c:v>
                </c:pt>
                <c:pt idx="6">
                  <c:v>esporte_lazer</c:v>
                </c:pt>
                <c:pt idx="7">
                  <c:v>relogios_presentes</c:v>
                </c:pt>
                <c:pt idx="8">
                  <c:v>ferramentas_jardim</c:v>
                </c:pt>
                <c:pt idx="9">
                  <c:v>bebes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6732</c:v>
                </c:pt>
                <c:pt idx="1">
                  <c:v>6695</c:v>
                </c:pt>
                <c:pt idx="2">
                  <c:v>6496</c:v>
                </c:pt>
                <c:pt idx="3">
                  <c:v>4793</c:v>
                </c:pt>
                <c:pt idx="4">
                  <c:v>4395</c:v>
                </c:pt>
                <c:pt idx="5">
                  <c:v>4095</c:v>
                </c:pt>
                <c:pt idx="6">
                  <c:v>4055</c:v>
                </c:pt>
                <c:pt idx="7">
                  <c:v>3991</c:v>
                </c:pt>
                <c:pt idx="8">
                  <c:v>3924</c:v>
                </c:pt>
                <c:pt idx="9">
                  <c:v>3895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99-4016-9722-F8D5CC6F0C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 Deviation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not_defined</c:v>
                </c:pt>
                <c:pt idx="1">
                  <c:v>voucher</c:v>
                </c:pt>
                <c:pt idx="2">
                  <c:v>boleto</c:v>
                </c:pt>
                <c:pt idx="3">
                  <c:v>credit_card</c:v>
                </c:pt>
                <c:pt idx="4">
                  <c:v>debit_card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116</c:v>
                </c:pt>
                <c:pt idx="2">
                  <c:v>214</c:v>
                </c:pt>
                <c:pt idx="3">
                  <c:v>222</c:v>
                </c:pt>
                <c:pt idx="4">
                  <c:v>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2E-4AFD-9C2C-FA9C3C6D8B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A22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31A22"/>
                </a:solidFill>
                <a:latin typeface="Georgia"/>
              </a:rPr>
              <a:t>Order count by segment &amp; payment type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credit_card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(&lt;200)</c:v>
                </c:pt>
                <c:pt idx="1">
                  <c:v>Medium (200–1000)</c:v>
                </c:pt>
                <c:pt idx="2">
                  <c:v>High (&gt;1000)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60548</c:v>
                </c:pt>
                <c:pt idx="1">
                  <c:v>15303</c:v>
                </c:pt>
                <c:pt idx="2">
                  <c:v>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E-4F92-B6B5-0420CB2F13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boleto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(&lt;200)</c:v>
                </c:pt>
                <c:pt idx="1">
                  <c:v>Medium (200–1000)</c:v>
                </c:pt>
                <c:pt idx="2">
                  <c:v>High (&gt;1000)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16444</c:v>
                </c:pt>
                <c:pt idx="1">
                  <c:v>3162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6E-4F92-B6B5-0420CB2F13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voucher</c:v>
                </c:pt>
              </c:strCache>
            </c:strRef>
          </c:tx>
          <c:spPr>
            <a:solidFill>
              <a:srgbClr val="F4B8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(&lt;200)</c:v>
                </c:pt>
                <c:pt idx="1">
                  <c:v>Medium (200–1000)</c:v>
                </c:pt>
                <c:pt idx="2">
                  <c:v>High (&gt;1000)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5476</c:v>
                </c:pt>
                <c:pt idx="1">
                  <c:v>286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6E-4F92-B6B5-0420CB2F13D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debit_card</c:v>
                </c:pt>
              </c:strCache>
            </c:strRef>
          </c:tx>
          <c:spPr>
            <a:solidFill>
              <a:srgbClr val="8C9A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(&lt;200)</c:v>
                </c:pt>
                <c:pt idx="1">
                  <c:v>Medium (200–1000)</c:v>
                </c:pt>
                <c:pt idx="2">
                  <c:v>High (&gt;1000)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1287</c:v>
                </c:pt>
                <c:pt idx="1">
                  <c:v>227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6E-4F92-B6B5-0420CB2F13D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not_defined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Low (&lt;200)</c:v>
                </c:pt>
                <c:pt idx="1">
                  <c:v>Medium (200–1000)</c:v>
                </c:pt>
                <c:pt idx="2">
                  <c:v>High (&gt;1000)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6E-4F92-B6B5-0420CB2F1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(BRL)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beleza_saude</c:v>
                </c:pt>
                <c:pt idx="1">
                  <c:v>relogios_presentes</c:v>
                </c:pt>
                <c:pt idx="2">
                  <c:v>cama_mesa_banho</c:v>
                </c:pt>
                <c:pt idx="3">
                  <c:v>esporte_lazer</c:v>
                </c:pt>
                <c:pt idx="4">
                  <c:v>informatica_acessorios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1257865.3400000001</c:v>
                </c:pt>
                <c:pt idx="1">
                  <c:v>1203060.32</c:v>
                </c:pt>
                <c:pt idx="2">
                  <c:v>1032268.59</c:v>
                </c:pt>
                <c:pt idx="3">
                  <c:v>985881.1</c:v>
                </c:pt>
                <c:pt idx="4">
                  <c:v>910605.07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95-49A4-86DB-707E3C0EB4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(BRL)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B8-488D-9892-C80A4EA6683A}"/>
              </c:ext>
            </c:extLst>
          </c:dPt>
          <c:dPt>
            <c:idx val="1"/>
            <c:bubble3D val="0"/>
            <c:spPr>
              <a:solidFill>
                <a:srgbClr val="F4B8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B8-488D-9892-C80A4EA6683A}"/>
              </c:ext>
            </c:extLst>
          </c:dPt>
          <c:dPt>
            <c:idx val="2"/>
            <c:bubble3D val="0"/>
            <c:spPr>
              <a:solidFill>
                <a:srgbClr val="232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B8-488D-9892-C80A4EA6683A}"/>
              </c:ext>
            </c:extLst>
          </c:dPt>
          <c:dPt>
            <c:idx val="3"/>
            <c:bubble3D val="0"/>
            <c:spPr>
              <a:solidFill>
                <a:srgbClr val="8C9A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B8-488D-9892-C80A4EA6683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B8-488D-9892-C80A4EA6683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B8-488D-9892-C80A4EA6683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B8-488D-9892-C80A4EA6683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B8-488D-9892-C80A4EA6683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Winter</c:v>
                </c:pt>
                <c:pt idx="3">
                  <c:v>Autumn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4216721.54</c:v>
                </c:pt>
                <c:pt idx="1">
                  <c:v>4120359.62</c:v>
                </c:pt>
                <c:pt idx="2">
                  <c:v>2905750.03</c:v>
                </c:pt>
                <c:pt idx="3">
                  <c:v>2348812.5099999998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B8-488D-9892-C80A4EA66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Sold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aca2eb7d…14663af</c:v>
                </c:pt>
                <c:pt idx="1">
                  <c:v>99a4788c…39b6058</c:v>
                </c:pt>
                <c:pt idx="2">
                  <c:v>422879e1…d770e7f8</c:v>
                </c:pt>
                <c:pt idx="3">
                  <c:v>389d119b…499d9c6b</c:v>
                </c:pt>
                <c:pt idx="4">
                  <c:v>368c6c73…2389737</c:v>
                </c:pt>
                <c:pt idx="5">
                  <c:v>53759a2e…1519f73</c:v>
                </c:pt>
                <c:pt idx="6">
                  <c:v>d1c42706…7c61f2ac</c:v>
                </c:pt>
                <c:pt idx="7">
                  <c:v>53b36df6…d6772e08</c:v>
                </c:pt>
                <c:pt idx="8">
                  <c:v>154e7e31…972e5804</c:v>
                </c:pt>
                <c:pt idx="9">
                  <c:v>3dd2a171…c1e95ad7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527</c:v>
                </c:pt>
                <c:pt idx="1">
                  <c:v>488</c:v>
                </c:pt>
                <c:pt idx="2">
                  <c:v>484</c:v>
                </c:pt>
                <c:pt idx="3">
                  <c:v>392</c:v>
                </c:pt>
                <c:pt idx="4">
                  <c:v>388</c:v>
                </c:pt>
                <c:pt idx="5">
                  <c:v>373</c:v>
                </c:pt>
                <c:pt idx="6">
                  <c:v>343</c:v>
                </c:pt>
                <c:pt idx="7">
                  <c:v>323</c:v>
                </c:pt>
                <c:pt idx="8">
                  <c:v>281</c:v>
                </c:pt>
                <c:pt idx="9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6-40DA-B35C-996F16526D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A22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31A22"/>
                </a:solidFill>
                <a:latin typeface="Georgia"/>
              </a:rPr>
              <a:t>Revenue peaks in April–May, drops sharply in September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(BRL)</c:v>
                </c:pt>
              </c:strCache>
            </c:strRef>
          </c:tx>
          <c:spPr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950030.36</c:v>
                </c:pt>
                <c:pt idx="1">
                  <c:v>844178.71</c:v>
                </c:pt>
                <c:pt idx="2">
                  <c:v>983213.44</c:v>
                </c:pt>
                <c:pt idx="3">
                  <c:v>996647.75</c:v>
                </c:pt>
                <c:pt idx="4">
                  <c:v>996517.68</c:v>
                </c:pt>
                <c:pt idx="5">
                  <c:v>865124.31</c:v>
                </c:pt>
                <c:pt idx="6">
                  <c:v>895507.22</c:v>
                </c:pt>
                <c:pt idx="7">
                  <c:v>854686.33</c:v>
                </c:pt>
                <c:pt idx="8">
                  <c:v>145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225-4BBF-A247-CEE8E020B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Sales</c:v>
                </c:pt>
              </c:strCache>
            </c:strRef>
          </c:tx>
          <c:spPr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Feb</c:v>
                </c:pt>
                <c:pt idx="1">
                  <c:v>Mar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Nov</c:v>
                </c:pt>
                <c:pt idx="6">
                  <c:v>Dec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104.97</c:v>
                </c:pt>
                <c:pt idx="1">
                  <c:v>139.96</c:v>
                </c:pt>
                <c:pt idx="2">
                  <c:v>244.93</c:v>
                </c:pt>
                <c:pt idx="3">
                  <c:v>314.91000000000003</c:v>
                </c:pt>
                <c:pt idx="4">
                  <c:v>384.89</c:v>
                </c:pt>
                <c:pt idx="5">
                  <c:v>419.88</c:v>
                </c:pt>
                <c:pt idx="6">
                  <c:v>489.86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6BB-43D0-A855-591006945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 Card Monthly Total (BRL)</c:v>
                </c:pt>
              </c:strCache>
            </c:strRef>
          </c:tx>
          <c:spPr>
            <a:ln w="38100" cap="flat">
              <a:solidFill>
                <a:srgbClr val="232F3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32F3E"/>
              </a:solidFill>
              <a:ln w="9525" cap="flat">
                <a:solidFill>
                  <a:srgbClr val="232F3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868880.38</c:v>
                </c:pt>
                <c:pt idx="1">
                  <c:v>778803</c:v>
                </c:pt>
                <c:pt idx="2">
                  <c:v>933770.1</c:v>
                </c:pt>
                <c:pt idx="3">
                  <c:v>934306</c:v>
                </c:pt>
                <c:pt idx="4">
                  <c:v>927556.35</c:v>
                </c:pt>
                <c:pt idx="5">
                  <c:v>811508.56</c:v>
                </c:pt>
                <c:pt idx="6">
                  <c:v>803674.49</c:v>
                </c:pt>
                <c:pt idx="7">
                  <c:v>797648.89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B46-4535-BE74-C526DFA16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36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Customer Analytics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0972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exploration of payments, products, customers and seasonal trends across Amazon marketplace.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•  VRAJ Parekh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Sections  •  19 Queries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737360" y="1600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 — 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product filters, seasonal peaks, category price gaps, data quality.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2471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73736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II — Segmentation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Order-value tiers, category pricing, repeat buyers, customer types, top revenue categories.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737360" y="4069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III — Trends &amp; Cohorts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totals, monthly revenue, loyalty segments, top customers, product lifecycles, payment growth.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112471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52578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1737360" y="5303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5760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 for Amazon India's go-forward strategy.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457200"/>
            <a:ext cx="5486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FF9900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4864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payments, surfacing seasonal peaks, and checking data quality across the catalogue.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 Average Payment by Type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25880"/>
            <a:ext cx="4023360" cy="4846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680960" y="1325880"/>
            <a:ext cx="91440" cy="4846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552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 leads the basket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55280" y="25146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Credit card averages </a:t>
            </a:r>
            <a:r>
              <a:rPr lang="en-US" sz="1300" b="1" dirty="0">
                <a:solidFill>
                  <a:srgbClr val="FF9900"/>
                </a:solidFill>
              </a:rPr>
              <a:t>163</a:t>
            </a:r>
            <a:r>
              <a:rPr lang="en-US" sz="1300" dirty="0">
                <a:solidFill>
                  <a:srgbClr val="1F2A37"/>
                </a:solidFill>
              </a:rPr>
              <a:t> per transaction — the highest among defined methods, ~2.5× a voucher payment.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Voucher (66) skews low; it's used for smaller, often top-up purchases.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Boleto (145) and debit card (143) sit nearly tied — both serve mid-range baskets.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Distribution by Payment Type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59436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463040"/>
            <a:ext cx="2377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237744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73.9%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6751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89720" y="1463040"/>
            <a:ext cx="2377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189720" y="1463040"/>
            <a:ext cx="2377440" cy="914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28116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19.0%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92811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3749040"/>
            <a:ext cx="2377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583680" y="3749040"/>
            <a:ext cx="23774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67512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6751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89720" y="3749040"/>
            <a:ext cx="2377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189720" y="3749040"/>
            <a:ext cx="2377440" cy="91440"/>
          </a:xfrm>
          <a:prstGeom prst="rect">
            <a:avLst/>
          </a:prstGeom>
          <a:solidFill>
            <a:srgbClr val="8C9AAF"/>
          </a:solidFill>
          <a:ln w="12700">
            <a:solidFill>
              <a:srgbClr val="8C9A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28116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4 orders use credit card — building rewards, EMI offers and BNPL on this rail will compound the fastest.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'Smart' Products Priced Between 100 – 500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solidFill>
            <a:srgbClr val="131A22"/>
          </a:solidFill>
          <a:ln w="12700">
            <a:solidFill>
              <a:srgbClr val="131A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product rows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63040"/>
            <a:ext cx="0" cy="640080"/>
          </a:xfrm>
          <a:prstGeom prst="line">
            <a:avLst/>
          </a:prstGeom>
          <a:noFill/>
          <a:ln w="12700">
            <a:solidFill>
              <a:srgbClr val="3A4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439.99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price in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100–500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price band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7498080" cy="3127248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1df1a2df8ad2b9d3aa49fd851e3145ad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7debe59b10825e89c1cbcc8b190c85e2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ca86b9fe16e12de698c955aedff0aea2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0e52955ca8143bd179b311cc454a6caa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7aeaa8f3e592e380c420e8910a717255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d1b571cd58267d8cac8b2afd6e288bbc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66ffe28d0fd53808d0535eee4b90a157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f06796447de379a26dde5fcac6a1a2f7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229600" y="2514600"/>
            <a:ext cx="347472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229600" y="2514600"/>
            <a:ext cx="73152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124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ANGLE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124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Mid-price 'Smart' shelf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412480" y="352044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sub-segment for bundling and discount campaigns — affordable enough for impulse buys, premium enough for margin.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pairing with credit-card EMI given the ₹163 average ticket fits the band.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Months by Total Sales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2011680"/>
            <a:ext cx="2743200" cy="4114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4173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1732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1,502,589 BRL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2743200" cy="356616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0060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1.43M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0060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1,428,658 BRL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926080"/>
            <a:ext cx="2743200" cy="3200400"/>
          </a:xfrm>
          <a:prstGeom prst="rect">
            <a:avLst/>
          </a:prstGeom>
          <a:solidFill>
            <a:srgbClr val="8C9AAF"/>
          </a:solidFill>
          <a:ln w="12700">
            <a:solidFill>
              <a:srgbClr val="8C9A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838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183880" y="4572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8388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1,393,539 BRL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263640"/>
            <a:ext cx="11247120" cy="45720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peak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May, July and August together account for 4.32M, a mid-summer surge worth dedicated inventory planning.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 with Largest Price Spread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where max − min price difference exceeds 500. Top 10 shown.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463040"/>
            <a:ext cx="3200400" cy="475488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503920" y="1463040"/>
            <a:ext cx="73152" cy="4754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868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price bands signal mixed SKU quality and merchandising opportunity.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0" y="29260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6,732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spread (utilidades_domesticas)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warrant tiered storefronts — entry-level vs premium — to avoid losing high-intent shoppers in noisy listings.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Types — Transaction Consistency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in transaction amount, sorted ascending (lower = more consistent).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7132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63840" y="18745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001000" y="2039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116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27889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001000" y="2953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868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214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37033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001000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868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222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46177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001000" y="47823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6868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debit_card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246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is the most predictable rail (σ=116) — fixed denominations keep variance low. Debit card sees the widest swing.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  •  Q7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— Missing Product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4754880"/>
          </a:xfrm>
          <a:prstGeom prst="rect">
            <a:avLst/>
          </a:prstGeom>
          <a:solidFill>
            <a:srgbClr val="131A22"/>
          </a:solidFill>
          <a:ln w="12700">
            <a:solidFill>
              <a:srgbClr val="131A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614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ROWS WITH MISSING CATEGORY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4206240"/>
            <a:ext cx="1371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listed with NULL or single-character category names — flagged for catalogue cleanup.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417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FIRST 6 OFFENDERS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37360"/>
          <a:ext cx="5943600" cy="224028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a41e356c76fab66334f36de622ecbd3a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d8dee61c2034d6d075997acef1870e9b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56139431d72cd51f19eb9f7dae4d1617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46b48281eb6d663ced748f324108c733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5fb61f482620cb672f5e586bb132eae9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e10758160da97891c2fdcbc35f0f031d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5760720" y="4297680"/>
            <a:ext cx="5943600" cy="1828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760720" y="4297680"/>
            <a:ext cx="73152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436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4709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Backfill via seller portal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3600" y="5074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category-enrichment ticket to merchandising; missing category names break filters, recommendations, and ad targeting downstream.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457200"/>
            <a:ext cx="5486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FF9900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4864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orders, prices, and customers cluster — and which categories drive the most revenue.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  •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Value Segments × Payment Type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1645920"/>
            <a:ext cx="3383280" cy="1417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45820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60,548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5820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credit-card orders — the volume engine.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83280" cy="1417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45820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16,444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45820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boleto orders — second largest single bucket.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21040" y="4663440"/>
            <a:ext cx="3383280" cy="1417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458200" y="4800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458200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orders on credit card — small but rich segment.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  •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Range &amp; Average per Category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by average price (BRL). Wider bands → more SKU-tier diversity.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1,098.34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portateis_casa_forno_e_cafe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eletrodomesticos_2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agro_industria_e_comercio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instrumentos_musicais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4,399.87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eletroportateis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4,799.00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portateis_cozinha_e_preparadores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telefonia_fixa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construcao_ferramentas_seguranca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relogios_presentes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leader: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'pcs' category averages 1,098 — nearly 2× the next category — making it a margin pillar.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  •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Customers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0" cy="4846320"/>
          </a:xfrm>
          <a:prstGeom prst="rect">
            <a:avLst/>
          </a:prstGeom>
          <a:solidFill>
            <a:srgbClr val="131A22"/>
          </a:solidFill>
          <a:ln w="12700">
            <a:solidFill>
              <a:srgbClr val="131A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3,140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1371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one order in the period.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49377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0020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buyer: 16 orders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REPEAT BUYERS — 16 ORDERS 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9788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a91e80fbe80ddc07de66a5cf9270293c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83564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224028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9788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a6168cd79131e64acef92e3c74d6cc43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35640" y="2286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278892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89788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363f980585bf04c1a88fdb986011c52e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3564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60720" y="333756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97880" y="3383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cbd0350d4ccba9772e8e768d4a4a5cbf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3564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60720" y="388620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9788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417b909c0962b2610f1cfeb1c1478986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35640" y="3931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60720" y="443484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89788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5f94af52aef02c968a2e0f01f430864e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35640" y="4480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60720" y="498348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89788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1b6d29725255a77667a8c639eeb4ccc0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835640" y="5029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60720" y="5532120"/>
            <a:ext cx="5943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897880" y="5577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e4bbcc533fdf3917c56dea2c43bf2084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835640" y="5577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  •  Q4 &amp; Q5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Types &amp; Top Revenue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MIX (Q4)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09728" cy="13258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2F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92,790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32F3E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95.5%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09728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2,287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F9900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109728" cy="13258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 orders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4572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4B860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CATEGORIES (Q5)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217920" y="16002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Beleza_saude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(1.26M) leads — followed closely by relogios_presents(1.20M). The top 5 categories account for 5.39M combined.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457200"/>
            <a:ext cx="5486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FF9900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 &amp; Cohorts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4864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monthly revenue, loyalty cohorts, top customers and payment-method dynamics.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queries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III  •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Sales by Season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173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126480" y="1417320"/>
            <a:ext cx="109728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355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55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May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1554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4.22M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126480" y="260604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126480" y="2606040"/>
            <a:ext cx="109728" cy="10972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55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Aug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4.12M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126480" y="379476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126480" y="3794760"/>
            <a:ext cx="109728" cy="10972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550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5508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– Feb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0" y="3931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32F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2.91M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6126480" y="498348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126480" y="4983480"/>
            <a:ext cx="109728" cy="1097280"/>
          </a:xfrm>
          <a:prstGeom prst="rect">
            <a:avLst/>
          </a:prstGeom>
          <a:solidFill>
            <a:srgbClr val="8C9AAF"/>
          </a:solidFill>
          <a:ln w="12700">
            <a:solidFill>
              <a:srgbClr val="8C9A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5508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55080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Nov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0" y="5120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8C9A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2.35M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III  •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Best-Selling Products (Above-Average Volume)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with total quantity sold above the overall average.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554480"/>
            <a:ext cx="3200400" cy="4572000"/>
          </a:xfrm>
          <a:prstGeom prst="rect">
            <a:avLst/>
          </a:prstGeom>
          <a:solidFill>
            <a:srgbClr val="F7F8FA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503920" y="155448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8680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2057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527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86868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— the catalogue's #1 mover.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0" y="3566160"/>
            <a:ext cx="28346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8680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performers are prime candidates for inventory pre-positioning and homepage merchandising.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III  •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Revenue Trend (2018)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7772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32588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03920" y="1325880"/>
            <a:ext cx="91440" cy="1143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₹996,648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256032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503920" y="2560320"/>
            <a:ext cx="91440" cy="1143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86800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₹996,518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868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379476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503920" y="3794760"/>
            <a:ext cx="91440" cy="1143000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68680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₹844,179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03920" y="502920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503920" y="5029200"/>
            <a:ext cx="91440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686800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686800" y="5806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(incomplete)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III  •  Q4 &amp; Q5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Segments &amp; Top High-Value Customers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SEGMENTS (Q4)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09728" cy="13716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2F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94,635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32F3E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09728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218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3200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9900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0.4%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09728" cy="13716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orders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4B860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126480" y="1280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AVG ORDER VALUE (Q5)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45920"/>
          <a:ext cx="5577840" cy="32186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dc4802a71eae9be1dd28f5d788ceb526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6,735.00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459bef486812aa25204be022145caa62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ff4159b92c40ebe40454e3e6a7c35ed6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eebb5dda148d3893cdaf5b5ca3040ccb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48e1ac109decbb87765a3eade6854098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edde2314c6c30e864a128ac95d6b2112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4,399.87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fa562ef24d41361e476e748681810e1e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ca27f3dac28fb1063faddd424c9d95fa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4,059.00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011875f0176909c5cf0b14a9138bb691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3,999.90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edf81e1f3070b9dac83ec83dacdbb9bc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III  •  Q6 &amp; Q7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Lifecycle &amp; Payment Growth (2018)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SALES — SAMPLE PRODUCT (Q6)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001b72df… across 2017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82880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MONTHLY TOTAL (Q7)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+ MoM% for credit_card, Jan – Aug 2018</a:t>
            </a:r>
            <a:endParaRPr lang="en-US" sz="10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126480" y="182880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217920" y="5120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 CHANGE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17920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217920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-10.4%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001691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001691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001691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+19.9%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785463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785463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785463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+0.1%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569234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569234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569234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-0.7%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353006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9353006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353006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-12.5%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0136777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10136777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136777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-1.0%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0920549" y="5349240"/>
            <a:ext cx="738051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10920549" y="5394960"/>
            <a:ext cx="738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920549" y="5669280"/>
            <a:ext cx="738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-0.8%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 •  Sales Analytics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 dominates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 of all orders. Build EMI, rewards, BNPL on this rail first.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940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Mid-year is the peak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May, Jul, Aug </a:t>
            </a:r>
            <a:r>
              <a:rPr lang="en-US" sz="110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4.32M </a:t>
            </a: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— pre-position inventory by April.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Beleza_saude leads revenue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1.26M in the top category; the top 5 combined cross 5.39M.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33756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&amp; Summer = 64% of seasonal sales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should index here; Autumn is the lean season.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" y="5029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95.5% are one-and-done buyers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funnel is the single biggest growth lever — target Returning → Loyal.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892040"/>
            <a:ext cx="5577840" cy="1417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00800" y="489204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9400" y="5029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614 SKUs need category cleanup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Missing/single-char categories hurt search, ads, and recommendations.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400800"/>
            <a:ext cx="9144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D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1518</Words>
  <Application>Microsoft Office PowerPoint</Application>
  <PresentationFormat>Widescreen</PresentationFormat>
  <Paragraphs>432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India Sales Analysis</dc:title>
  <dc:subject>PptxGenJS Presentation</dc:subject>
  <dc:creator>Data Analytics Team</dc:creator>
  <cp:lastModifiedBy>vrajparekh13@outlook.com</cp:lastModifiedBy>
  <cp:revision>5</cp:revision>
  <dcterms:created xsi:type="dcterms:W3CDTF">2026-05-27T12:47:07Z</dcterms:created>
  <dcterms:modified xsi:type="dcterms:W3CDTF">2026-05-27T18:32:33Z</dcterms:modified>
</cp:coreProperties>
</file>